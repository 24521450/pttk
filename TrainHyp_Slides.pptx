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12191695" cy="73152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914400"/>
            <a:ext cx="3657600" cy="41148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9601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5FFF"/>
                </a:solidFill>
                <a:latin typeface="Inter"/>
              </a:defRPr>
            </a:pPr>
            <a:r>
              <a:t>STAT3013 — STATISTICAL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F172A"/>
                </a:solidFill>
                <a:latin typeface="Inter"/>
              </a:defRPr>
            </a:pPr>
            <a:r>
              <a:t>TrainHyp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475569"/>
                </a:solidFill>
                <a:latin typeface="Inter"/>
              </a:defRPr>
            </a:pPr>
            <a:r>
              <a:t>Training Volume Optimizer for Muscle Hypertrophy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Inter"/>
              </a:defRPr>
            </a:pPr>
            <a:r>
              <a:t>Statistical Analysis of Training Volume and Its Correlation with Muscle Hypertrophy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4023360"/>
            <a:ext cx="1828800" cy="381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297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Inter"/>
              </a:defRPr>
            </a:pPr>
            <a:r>
              <a:t>Group 7  ·  STAT3013.Q21.CTTT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7274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Inter"/>
              </a:defRPr>
            </a:pPr>
            <a:r>
              <a:t>24522046  Võ Tấn Vũ          24521521  Nguyễn Đình Sang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02005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Inter"/>
              </a:defRPr>
            </a:pPr>
            <a:r>
              <a:t>24521446  Nguyễn Phan Hoàng Quân    24521450  Phạm Như Quân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449824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Inter"/>
              </a:defRPr>
            </a:pPr>
            <a:r>
              <a:t>Lecturers:  Dr. Trần Văn Hải Triều  &amp;  TA. Nguyễn Minh Nhựt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217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475569"/>
                </a:solidFill>
                <a:latin typeface="Inter"/>
              </a:defRPr>
            </a:pPr>
            <a: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5FFF"/>
                </a:solidFill>
                <a:latin typeface="Inter"/>
              </a:defRPr>
            </a:pPr>
            <a:r>
              <a:t>01 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Inter"/>
              </a:defRPr>
            </a:pPr>
            <a:r>
              <a:t>The Problem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91440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B5FFF"/>
                </a:solidFill>
                <a:latin typeface="Inter"/>
              </a:defRPr>
            </a:pPr>
            <a:r>
              <a:t>"Given an individual's training profile, what is the optimal weekly volume (sets/week) to maximize hypertrophic response?"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2626"/>
                </a:solidFill>
                <a:latin typeface="Inter"/>
              </a:defRPr>
            </a:pPr>
            <a:r>
              <a:t>❌  Current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475569"/>
                </a:solidFill>
                <a:latin typeface="Inter"/>
              </a:defRPr>
            </a:pPr>
            <a:r>
              <a:t>•  Population-level guidelines: "10–20 sets/week"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475569"/>
                </a:solidFill>
                <a:latin typeface="Inter"/>
              </a:defRPr>
            </a:pPr>
            <a:r>
              <a:t>•  One-size-fits-all — ignores individual variation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475569"/>
                </a:solidFill>
                <a:latin typeface="Inter"/>
              </a:defRPr>
            </a:pPr>
            <a:r>
              <a:t>•  No uncertainty quantification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475569"/>
                </a:solidFill>
                <a:latin typeface="Inter"/>
              </a:defRPr>
            </a:pPr>
            <a:r>
              <a:t>•  No safety guardrails for edge cases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926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A34A"/>
                </a:solidFill>
                <a:latin typeface="Inter"/>
              </a:defRPr>
            </a:pPr>
            <a:r>
              <a:t>✅  TrainHyp AI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4747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475569"/>
                </a:solidFill>
                <a:latin typeface="Inter"/>
              </a:defRPr>
            </a:pPr>
            <a:r>
              <a:t>•  Personalized prediction via 4-model ensemble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475569"/>
                </a:solidFill>
                <a:latin typeface="Inter"/>
              </a:defRPr>
            </a:pPr>
            <a:r>
              <a:t>•  13-feature clinical profile → Hedges' g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475569"/>
                </a:solidFill>
                <a:latin typeface="Inter"/>
              </a:defRPr>
            </a:pPr>
            <a:r>
              <a:t>•  Probabilistic uncertainty (NGBoost σ + 95% CI)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475569"/>
                </a:solidFill>
                <a:latin typeface="Inter"/>
              </a:defRPr>
            </a:pPr>
            <a:r>
              <a:t>•  4-rule safety engine for OOD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Inter"/>
              </a:defRPr>
            </a:pPr>
            <a:r>
              <a:t>Data Source:  69 RCTs  ·  199 muscle-level observations  ·  measured via ultrasound &amp; MRI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5FFF"/>
                </a:solidFill>
                <a:latin typeface="Inter"/>
              </a:defRPr>
            </a:pPr>
            <a:r>
              <a:t>01 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Inter"/>
              </a:defRPr>
            </a:pPr>
            <a:r>
              <a:t>Research Objectives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828800"/>
            <a:ext cx="502920" cy="50292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0195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8745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Inter"/>
              </a:defRPr>
            </a:pPr>
            <a:r>
              <a:t>Analyse dose–response relationships from 69 RCTs (199 observations) for muscle hypertrophy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880360"/>
            <a:ext cx="502920" cy="50292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95351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9260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Inter"/>
              </a:defRPr>
            </a:pPr>
            <a:r>
              <a:t>Build a 4-model ML ensemble (EBM · NGBoost · CatBoost · GPR) to predict Hedges' g effect sizes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931920"/>
            <a:ext cx="502920" cy="50292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0050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9776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Inter"/>
              </a:defRPr>
            </a:pPr>
            <a:r>
              <a:t>Create an interactive clinical decision-support tool with personalized volume recommendations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983480"/>
            <a:ext cx="502920" cy="50292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05663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50292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Inter"/>
              </a:defRPr>
            </a:pPr>
            <a:r>
              <a:t>Implement probabilistic uncertainty estimates and safety guardrails for out-of-distribution inputs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5FFF"/>
                </a:solidFill>
                <a:latin typeface="Inter"/>
              </a:defRPr>
            </a:pPr>
            <a:r>
              <a:t>02  DATA &amp;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Inter"/>
              </a:defRPr>
            </a:pPr>
            <a:r>
              <a:t>Dataset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377440" cy="1234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938528"/>
            <a:ext cx="457200" cy="381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5FFF"/>
                </a:solidFill>
                <a:latin typeface="Inter"/>
              </a:defRPr>
            </a:pPr>
            <a:r>
              <a:t>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Inter"/>
              </a:defRPr>
            </a:pPr>
            <a:r>
              <a:t>RCT Studies</a:t>
            </a:r>
            <a:br/>
            <a:r>
              <a:t>(1989–2024)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828800"/>
            <a:ext cx="2377440" cy="1234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66160" y="1938528"/>
            <a:ext cx="457200" cy="381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1031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5FFF"/>
                </a:solidFill>
                <a:latin typeface="Inter"/>
              </a:defRPr>
            </a:pPr>
            <a:r>
              <a:t>199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606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Inter"/>
              </a:defRPr>
            </a:pPr>
            <a:r>
              <a:t>Muscle-level</a:t>
            </a:r>
            <a:br/>
            <a:r>
              <a:t>Observations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828800"/>
            <a:ext cx="2377440" cy="1234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938528"/>
            <a:ext cx="457200" cy="381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1031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5FFF"/>
                </a:solidFill>
                <a:latin typeface="Inter"/>
              </a:defRPr>
            </a:pPr>
            <a:r>
              <a:t>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606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Inter"/>
              </a:defRPr>
            </a:pPr>
            <a:r>
              <a:t>Input Features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1828800"/>
            <a:ext cx="2377440" cy="1234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69680" y="1938528"/>
            <a:ext cx="457200" cy="381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0" y="21031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A34A"/>
                </a:solidFill>
                <a:latin typeface="Inter"/>
              </a:defRPr>
            </a:pPr>
            <a:r>
              <a:t>Hedges' 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606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Inter"/>
              </a:defRPr>
            </a:pPr>
            <a:r>
              <a:t>Target Variable</a:t>
            </a:r>
            <a:br/>
            <a:r>
              <a:t>(Effect Size)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Inter"/>
              </a:defRPr>
            </a:pPr>
            <a:r>
              <a:t>Feature Groups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023360"/>
            <a:ext cx="33832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8680" y="4160520"/>
            <a:ext cx="731520" cy="381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297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Inter"/>
              </a:defRPr>
            </a:pPr>
            <a:r>
              <a:t>Training Variables (7)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7548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Inter"/>
              </a:defRPr>
            </a:pPr>
            <a:r>
              <a:t>sets/week (all), sets/week (direct),</a:t>
            </a:r>
            <a:br/>
            <a:r>
              <a:t>frequency, sessions, rep range,</a:t>
            </a:r>
            <a:br/>
            <a:r>
              <a:t>inter-set rest, % sets to failure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4023360"/>
            <a:ext cx="33832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26280" y="4160520"/>
            <a:ext cx="731520" cy="381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4297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Inter"/>
              </a:defRPr>
            </a:pPr>
            <a:r>
              <a:t>Subject Profile (3)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7548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Inter"/>
              </a:defRPr>
            </a:pPr>
            <a:r>
              <a:t>age, sex, training status</a:t>
            </a:r>
            <a:br/>
            <a:r>
              <a:t>(untrained vs trained)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4023360"/>
            <a:ext cx="33832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83880" y="4160520"/>
            <a:ext cx="731520" cy="381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4297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Inter"/>
              </a:defRPr>
            </a:pPr>
            <a:r>
              <a:t>Context Variables (3)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7548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Inter"/>
              </a:defRPr>
            </a:pPr>
            <a:r>
              <a:t>upper/lower body, nutrition control,</a:t>
            </a:r>
            <a:br/>
            <a:r>
              <a:t>program duration (weeks)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5FFF"/>
                </a:solidFill>
                <a:latin typeface="Inter"/>
              </a:defRPr>
            </a:pPr>
            <a:r>
              <a:t>02  DATA &amp;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Inter"/>
              </a:defRPr>
            </a:pPr>
            <a:r>
              <a:t>Why Hedges' g?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Inter"/>
              </a:defRPr>
            </a:pPr>
            <a:r>
              <a:t>Hedges' g  =  J  ×  (post.mean − pre.mean) / pooled 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Inter"/>
              </a:defRPr>
            </a:pPr>
            <a:r>
              <a:t>Bias-corrected standardized mean difference  —  suitable for small-sample studies</a:t>
            </a:r>
            <a:br/>
            <a:r>
              <a:t>Standardizes across measurement methods (ultrasound, MRI, biopsy)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Inter"/>
              </a:defRPr>
            </a:pPr>
            <a:r>
              <a:t>Responder Classification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1069848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4114800"/>
            <a:ext cx="73152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Inter"/>
              </a:defRPr>
            </a:pPr>
            <a:r>
              <a:t>Low Responder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C2626"/>
                </a:solidFill>
                <a:latin typeface="Inter"/>
              </a:defRPr>
            </a:pPr>
            <a:r>
              <a:t>g &lt; 0.2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Inter"/>
              </a:defRPr>
            </a:pPr>
            <a:r>
              <a:t>Negligible to small effect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846320"/>
            <a:ext cx="1069848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4937760"/>
            <a:ext cx="73152" cy="5029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937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Inter"/>
              </a:defRPr>
            </a:pPr>
            <a:r>
              <a:t>Medium Responder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937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7706"/>
                </a:solidFill>
                <a:latin typeface="Inter"/>
              </a:defRPr>
            </a:pPr>
            <a:r>
              <a:t>0.2 ≤ g &lt; 0.8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Inter"/>
              </a:defRPr>
            </a:pPr>
            <a:r>
              <a:t>Moderate hypertrophic effect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669280"/>
            <a:ext cx="1069848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5760720"/>
            <a:ext cx="73152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760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Inter"/>
              </a:defRPr>
            </a:pPr>
            <a:r>
              <a:t>High Responder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5760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A34A"/>
                </a:solidFill>
                <a:latin typeface="Inter"/>
              </a:defRPr>
            </a:pPr>
            <a:r>
              <a:t>g ≥ 0.8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760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Inter"/>
              </a:defRPr>
            </a:pPr>
            <a:r>
              <a:t>Large hypertrophic effect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5FFF"/>
                </a:solidFill>
                <a:latin typeface="Inter"/>
              </a:defRPr>
            </a:pPr>
            <a:r>
              <a:t>02  DATA &amp;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Inter"/>
              </a:defRPr>
            </a:pPr>
            <a:r>
              <a:t>4-Model Ensemble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2011680" cy="914400"/>
          </a:xfrm>
          <a:prstGeom prst="round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t>13 Features</a:t>
            </a:r>
            <a:br/>
            <a:r>
              <a:t>+ Preprocessing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2286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75569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645920"/>
            <a:ext cx="292608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0" y="1645920"/>
            <a:ext cx="73152" cy="100584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7190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5FFF"/>
                </a:solidFill>
                <a:latin typeface="Inter"/>
              </a:defRPr>
            </a:pPr>
            <a:r>
              <a:t>EBM-GAM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71907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nter"/>
              </a:defRPr>
            </a:pPr>
            <a:r>
              <a:t>Regression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1031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Inter"/>
              </a:defRPr>
            </a:pPr>
            <a:r>
              <a:t>Hedges' g</a:t>
            </a:r>
            <a:br/>
            <a:r>
              <a:t>prediction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2788920"/>
            <a:ext cx="292608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2788920"/>
            <a:ext cx="73152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28620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7706"/>
                </a:solidFill>
                <a:latin typeface="Inter"/>
              </a:defRPr>
            </a:pPr>
            <a:r>
              <a:t>NGBoost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86207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nter"/>
              </a:defRPr>
            </a:pPr>
            <a:r>
              <a:t>Uncertainty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2461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Inter"/>
              </a:defRPr>
            </a:pPr>
            <a:r>
              <a:t>σ + 95% CI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0" y="3931920"/>
            <a:ext cx="292608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0" y="3931920"/>
            <a:ext cx="73152" cy="1005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0" y="40050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A34A"/>
                </a:solidFill>
                <a:latin typeface="Inter"/>
              </a:defRPr>
            </a:pPr>
            <a:r>
              <a:t>CatBoost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400507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nter"/>
              </a:defRPr>
            </a:pPr>
            <a:r>
              <a:t>Classification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43891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Inter"/>
              </a:defRPr>
            </a:pPr>
            <a:r>
              <a:t>High / Med / Low</a:t>
            </a:r>
            <a:br/>
            <a:r>
              <a:t>responder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0" y="5074920"/>
            <a:ext cx="292608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0" y="5074920"/>
            <a:ext cx="73152" cy="10058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0" y="51480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C2626"/>
                </a:solidFill>
                <a:latin typeface="Inter"/>
              </a:defRPr>
            </a:pPr>
            <a:r>
              <a:t>GPR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514807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nter"/>
              </a:defRPr>
            </a:pPr>
            <a:r>
              <a:t>OOD Detection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55321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Inter"/>
              </a:defRPr>
            </a:pPr>
            <a:r>
              <a:t>σ_gpr</a:t>
            </a:r>
            <a:br/>
            <a:r>
              <a:t>(input novelty)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2926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75569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0" y="1645920"/>
            <a:ext cx="21031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49440" y="1783080"/>
            <a:ext cx="548640" cy="381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0" y="19202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Inter"/>
              </a:defRPr>
            </a:pPr>
            <a:r>
              <a:t>Rule Engine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2286000"/>
            <a:ext cx="1828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  <a:latin typeface="Inter"/>
              </a:defRPr>
            </a:pPr>
            <a:r>
              <a:t>•  Range check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  <a:latin typeface="Inter"/>
              </a:defRPr>
            </a:pPr>
            <a:r>
              <a:t>•  σ_ngb threshold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  <a:latin typeface="Inter"/>
              </a:defRPr>
            </a:pPr>
            <a:r>
              <a:t>•  σ_gpr threshold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  <a:latin typeface="Inter"/>
              </a:defRPr>
            </a:pPr>
            <a:r>
              <a:t>•  Volume bounds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0" y="2286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75569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01200" y="1645920"/>
            <a:ext cx="2286000" cy="1645920"/>
          </a:xfrm>
          <a:prstGeom prst="round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92640" y="17373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OUTPUT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21031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Inter"/>
              </a:defRPr>
            </a:pPr>
            <a:r>
              <a:t>• Hedges' g score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234086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Inter"/>
              </a:defRPr>
            </a:pPr>
            <a:r>
              <a:t>• Responder class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25786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Inter"/>
              </a:defRPr>
            </a:pPr>
            <a:r>
              <a:t>• Optimal sets/week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0" y="28163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Inter"/>
              </a:defRPr>
            </a:pPr>
            <a:r>
              <a:t>• 95% CI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0" y="305409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Inter"/>
              </a:defRPr>
            </a:pPr>
            <a:r>
              <a:t>• Safety warnings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0" y="3657600"/>
            <a:ext cx="5029200" cy="109728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40880" y="3749039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5FFF"/>
                </a:solidFill>
                <a:latin typeface="Inter"/>
              </a:defRPr>
            </a:pPr>
            <a:r>
              <a:t>Dose–Response Sweep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80" y="411480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Inter"/>
              </a:defRPr>
            </a:pPr>
            <a:r>
              <a:t>EBM prediction across 1–50 sets/week  →  find argmax (P90-capped ≤ 32 sets)</a:t>
            </a:r>
            <a:br/>
            <a:r>
              <a:t>Generates personalized dose–response curve for visualization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Inter"/>
              </a:defRPr>
            </a:pPr>
            <a:r>
              <a:t>Each model contributes a unique signal: EBM predicts magnitude · NGBoost quantifies spread · CatBoost classifies response · GPR detects novelty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5FFF"/>
                </a:solidFill>
                <a:latin typeface="Inter"/>
              </a:defRPr>
            </a:pPr>
            <a:r>
              <a:t>02  DATA &amp;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Inter"/>
              </a:defRPr>
            </a:pPr>
            <a:r>
              <a:t>Safety Guardrails — 4-Rule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920240"/>
            <a:ext cx="73152" cy="8686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F172A"/>
                </a:solidFill>
                <a:latin typeface="Inter"/>
              </a:defRPr>
            </a:pPr>
            <a:r>
              <a:t>⚠️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9385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Inter"/>
              </a:defRPr>
            </a:pPr>
            <a:r>
              <a:t>Feature Range Extrapolation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2860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Inter"/>
              </a:defRPr>
            </a:pPr>
            <a:r>
              <a:t>Each input checked against training data min/max.</a:t>
            </a:r>
            <a:br/>
            <a:r>
              <a:t>Flags when any feature falls outside observed range.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1069848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3108960"/>
            <a:ext cx="73152" cy="8686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108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F172A"/>
                </a:solidFill>
                <a:latin typeface="Inter"/>
              </a:defRPr>
            </a:pPr>
            <a:r>
              <a:t>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12724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Inter"/>
              </a:defRPr>
            </a:pPr>
            <a:r>
              <a:t>NGBoost High Uncertainty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4747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Inter"/>
              </a:defRPr>
            </a:pPr>
            <a:r>
              <a:t>If predictive σ exceeds threshold (P75/P90 of training σ),</a:t>
            </a:r>
            <a:br/>
            <a:r>
              <a:t>the point prediction is flagged as unreliable.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06240"/>
            <a:ext cx="1069848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4297680"/>
            <a:ext cx="73152" cy="86868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97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F172A"/>
                </a:solidFill>
                <a:latin typeface="Inter"/>
              </a:defRPr>
            </a:pPr>
            <a:r>
              <a:t>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3159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Inter"/>
              </a:defRPr>
            </a:pPr>
            <a:r>
              <a:t>GPR Out-of-Distribution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663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Inter"/>
              </a:defRPr>
            </a:pPr>
            <a:r>
              <a:t>GPR posterior variance grows with distance from training data.</a:t>
            </a:r>
            <a:br/>
            <a:r>
              <a:t>Measures input novelty — complements NGBoost uncertainty.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394960"/>
            <a:ext cx="1069848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5486400"/>
            <a:ext cx="73152" cy="86868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486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F172A"/>
                </a:solidFill>
                <a:latin typeface="Inter"/>
              </a:defRPr>
            </a:pPr>
            <a:r>
              <a:t>🏋️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50468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Inter"/>
              </a:defRPr>
            </a:pPr>
            <a:r>
              <a:t>Volume Bounds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852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Inter"/>
              </a:defRPr>
            </a:pPr>
            <a:r>
              <a:t>Too low → junk volume warning. Too high → overtraining risk.</a:t>
            </a:r>
            <a:br/>
            <a:r>
              <a:t>Based on physiological boundaries in meta.pkl.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75569"/>
                </a:solidFill>
                <a:latin typeface="Inter"/>
              </a:defRPr>
            </a:pPr>
            <a:r>
              <a:t>Warnings are non-blocking — predictions always returned. Guardrails inform, not restrict.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5FFF"/>
                </a:solidFill>
                <a:latin typeface="Inter"/>
              </a:defRPr>
            </a:pPr>
            <a:r>
              <a:t>03 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Inter"/>
              </a:defRPr>
            </a:pPr>
            <a: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029200" cy="4114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5FFF"/>
                </a:solidFill>
                <a:latin typeface="Inter"/>
              </a:defRPr>
            </a:pPr>
            <a:r>
              <a:t>FRONTEND  —  React 19 + TypeScript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Inter"/>
              </a:defRPr>
            </a:pPr>
            <a:r>
              <a:t>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468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Inter"/>
              </a:defRPr>
            </a:pPr>
            <a:r>
              <a:t>Data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4688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nter"/>
              </a:defRPr>
            </a:pPr>
            <a:r>
              <a:t>Histogram + Boxplot + Filters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71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Inter"/>
              </a:defRPr>
            </a:pPr>
            <a:r>
              <a:t>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971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Inter"/>
              </a:defRPr>
            </a:pPr>
            <a:r>
              <a:t>Volume vs Hypertrophy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9718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nter"/>
              </a:defRPr>
            </a:pPr>
            <a:r>
              <a:t>Scatter + Pearson 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74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Inter"/>
              </a:defRPr>
            </a:pPr>
            <a:r>
              <a:t>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474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Inter"/>
              </a:defRPr>
            </a:pPr>
            <a:r>
              <a:t>Volume Optimizer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4747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nter"/>
              </a:defRPr>
            </a:pPr>
            <a:r>
              <a:t>AI Prediction + Dose-Response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977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Inter"/>
              </a:defRPr>
            </a:pPr>
            <a:r>
              <a:t>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977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Inter"/>
              </a:defRPr>
            </a:pPr>
            <a:r>
              <a:t>Case Study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9776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nter"/>
              </a:defRPr>
            </a:pPr>
            <a:r>
              <a:t>Clinical Report Generation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nter"/>
              </a:defRPr>
            </a:pPr>
            <a:r>
              <a:t>React Router · Recharts · Motion · Tailwind v4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74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nter"/>
              </a:defRPr>
            </a:pPr>
            <a:r>
              <a:t>ErrorBoundary · Graceful Degradation · A11y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33832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B5FFF"/>
                </a:solidFill>
                <a:latin typeface="Inter"/>
              </a:defRPr>
            </a:pPr>
            <a:r>
              <a:t>HTTP</a:t>
            </a:r>
            <a:br/>
            <a:r>
              <a:t>JSON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29260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B5FFF"/>
                </a:solidFill>
                <a:latin typeface="Inter"/>
              </a:defRPr>
            </a:pPr>
            <a:r>
              <a:t>⟷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1828800"/>
            <a:ext cx="53035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5FFF"/>
                </a:solidFill>
                <a:latin typeface="Inter"/>
              </a:defRPr>
            </a:pPr>
            <a:r>
              <a:t>BACKEND  —  FastAPI + Python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23774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Inter"/>
              </a:defRPr>
            </a:pPr>
            <a:r>
              <a:t>API Endpoints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27432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6A34A"/>
                </a:solidFill>
                <a:latin typeface="Inter"/>
              </a:defRPr>
            </a:pPr>
            <a:r>
              <a:t>GET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2743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Inter"/>
              </a:defRPr>
            </a:pPr>
            <a:r>
              <a:t>/health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2743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nter"/>
              </a:defRPr>
            </a:pPr>
            <a:r>
              <a:t>Model status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3063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6A34A"/>
                </a:solidFill>
                <a:latin typeface="Inter"/>
              </a:defRPr>
            </a:pPr>
            <a:r>
              <a:t>GET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3063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Inter"/>
              </a:defRPr>
            </a:pPr>
            <a:r>
              <a:t>/model-info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3063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nter"/>
              </a:defRPr>
            </a:pPr>
            <a:r>
              <a:t>SHAP importance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3832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Inter"/>
              </a:defRPr>
            </a:pPr>
            <a:r>
              <a:t>POST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33832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Inter"/>
              </a:defRPr>
            </a:pPr>
            <a:r>
              <a:t>/predict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3383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nter"/>
              </a:defRPr>
            </a:pPr>
            <a:r>
              <a:t>Full prediction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39319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Inter"/>
              </a:defRPr>
            </a:pPr>
            <a:r>
              <a:t>AI Engine  →  4 Models  →  28 .pkl files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42976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Inter"/>
              </a:defRPr>
            </a:pPr>
            <a:r>
              <a:t>EBM · NGBoost · CatBoost · GPR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46634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nter"/>
              </a:defRPr>
            </a:pPr>
            <a:r>
              <a:t>Pydantic v2 validation · CORS · Uvicorn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49834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nter"/>
              </a:defRPr>
            </a:pPr>
            <a:r>
              <a:t>Auto Swagger docs at /docs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5FFF"/>
                </a:solidFill>
                <a:latin typeface="Inter"/>
              </a:defRPr>
            </a:pPr>
            <a:r>
              <a:t>03 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Inter"/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356616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965960"/>
            <a:ext cx="731520" cy="381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5FFF"/>
                </a:solidFill>
                <a:latin typeface="Inter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Inter"/>
              </a:defRPr>
            </a:pPr>
            <a:r>
              <a:t>React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nter"/>
              </a:defRPr>
            </a:pPr>
            <a:r>
              <a:t>UI component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54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Inter"/>
              </a:defRPr>
            </a:pPr>
            <a:r>
              <a:t>TypeScript (strict)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nter"/>
              </a:defRPr>
            </a:pPr>
            <a:r>
              <a:t>Static type safety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Inter"/>
              </a:defRPr>
            </a:pPr>
            <a:r>
              <a:t>Vite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86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nter"/>
              </a:defRPr>
            </a:pPr>
            <a:r>
              <a:t>Build tool + HMR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160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Inter"/>
              </a:defRPr>
            </a:pPr>
            <a:r>
              <a:t>Tailwind CSS v4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89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nter"/>
              </a:defRPr>
            </a:pPr>
            <a:r>
              <a:t>Utility-first CSS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Inter"/>
              </a:defRPr>
            </a:pPr>
            <a:r>
              <a:t>Recharts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92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nter"/>
              </a:defRPr>
            </a:pPr>
            <a:r>
              <a:t>Declarative charts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166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Inter"/>
              </a:defRPr>
            </a:pPr>
            <a:r>
              <a:t>React Router v7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394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nter"/>
              </a:defRPr>
            </a:pPr>
            <a:r>
              <a:t>URL-based navigation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1828800"/>
            <a:ext cx="356616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0" y="1965960"/>
            <a:ext cx="731520" cy="381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A34A"/>
                </a:solidFill>
                <a:latin typeface="Inter"/>
              </a:defRPr>
            </a:pPr>
            <a:r>
              <a:t>Backend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2651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Inter"/>
              </a:defRPr>
            </a:pPr>
            <a:r>
              <a:t>FastAPI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2880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nter"/>
              </a:defRPr>
            </a:pPr>
            <a:r>
              <a:t>Async web framework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154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Inter"/>
              </a:defRPr>
            </a:pPr>
            <a:r>
              <a:t>Pydantic v2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3383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nter"/>
              </a:defRPr>
            </a:pPr>
            <a:r>
              <a:t>Request validation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3657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Inter"/>
              </a:defRPr>
            </a:pPr>
            <a:r>
              <a:t>Uvicorn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3886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nter"/>
              </a:defRPr>
            </a:pPr>
            <a:r>
              <a:t>ASGI server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160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Inter"/>
              </a:defRPr>
            </a:pPr>
            <a:r>
              <a:t>Pandas / NumPy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4389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nter"/>
              </a:defRPr>
            </a:pPr>
            <a:r>
              <a:t>Data operations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Inter"/>
              </a:defRPr>
            </a:pPr>
            <a:r>
              <a:t>scikit-learn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4892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nter"/>
              </a:defRPr>
            </a:pPr>
            <a:r>
              <a:t>Scaler + GPR + Imputer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5166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Inter"/>
              </a:defRPr>
            </a:pPr>
            <a:r>
              <a:t>Joblib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4840" y="5394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nter"/>
              </a:defRPr>
            </a:pPr>
            <a:r>
              <a:t>Model serialization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20" y="1828800"/>
            <a:ext cx="356616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83880" y="1965960"/>
            <a:ext cx="731520" cy="381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7706"/>
                </a:solidFill>
                <a:latin typeface="Inter"/>
              </a:defRPr>
            </a:pPr>
            <a:r>
              <a:t>ML Models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2651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Inter"/>
              </a:defRPr>
            </a:pPr>
            <a:r>
              <a:t>EBM (interpret)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2880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nter"/>
              </a:defRPr>
            </a:pPr>
            <a:r>
              <a:t>Regression — Hedges' 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154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Inter"/>
              </a:defRPr>
            </a:pPr>
            <a:r>
              <a:t>NGBoost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3383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nter"/>
              </a:defRPr>
            </a:pPr>
            <a:r>
              <a:t>Probabilistic σ + CI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3657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Inter"/>
              </a:defRPr>
            </a:pPr>
            <a:r>
              <a:t>CatBoost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3886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nter"/>
              </a:defRPr>
            </a:pPr>
            <a:r>
              <a:t>Multi-class classifier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4160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Inter"/>
              </a:defRPr>
            </a:pPr>
            <a:r>
              <a:t>GPR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4389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nter"/>
              </a:defRPr>
            </a:pPr>
            <a:r>
              <a:t>OOD detection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Inter"/>
              </a:defRPr>
            </a:pPr>
            <a:r>
              <a:t>SHAP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4892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nter"/>
              </a:defRPr>
            </a:pPr>
            <a:r>
              <a:t>Feature importance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5FFF"/>
                </a:solidFill>
                <a:latin typeface="Inter"/>
              </a:defRPr>
            </a:pPr>
            <a:r>
              <a:t>04  APPLICATION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Inter"/>
              </a:defRPr>
            </a:pPr>
            <a:r>
              <a:t>Data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Inter"/>
              </a:defRPr>
            </a:pPr>
            <a:r>
              <a:t>Interactive dataset explorer — 69 RCTs · 198 observations · histogram + boxplot + filters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34440" y="1417320"/>
            <a:ext cx="9692640" cy="5212080"/>
          </a:xfrm>
          <a:prstGeom prst="round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ta_overview_screenshot_17772598127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371600"/>
            <a:ext cx="960120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5FFF"/>
                </a:solidFill>
                <a:latin typeface="Inter"/>
              </a:defRPr>
            </a:pPr>
            <a:r>
              <a:t>04  APPLICATION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Inter"/>
              </a:defRPr>
            </a:pPr>
            <a:r>
              <a:t>Volume vs Hypertrophy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Inter"/>
              </a:defRPr>
            </a:pPr>
            <a:r>
              <a:t>Scatter analysis — 198 observations · Pearson r = +0.44 · class-colored · Cohen's benchmarks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34440" y="1417320"/>
            <a:ext cx="9692640" cy="5212080"/>
          </a:xfrm>
          <a:prstGeom prst="round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olume_hypertrophy_page_17772598550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371600"/>
            <a:ext cx="960120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5FFF"/>
                </a:solidFill>
                <a:latin typeface="Inter"/>
              </a:defRPr>
            </a:pPr>
            <a:r>
              <a:t>04  APPLICATION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Inter"/>
              </a:defRPr>
            </a:pPr>
            <a:r>
              <a:t>Volume Optimizer — Custom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Inter"/>
              </a:defRPr>
            </a:pPr>
            <a:r>
              <a:t>10 adjustable parameters · real-time AI prediction · dose-response curve · SHAP importance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34440" y="1417320"/>
            <a:ext cx="9692640" cy="5212080"/>
          </a:xfrm>
          <a:prstGeom prst="round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optimizer_custom_profile_17772600086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371600"/>
            <a:ext cx="960120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5FFF"/>
                </a:solidFill>
                <a:latin typeface="Inter"/>
              </a:defRPr>
            </a:pPr>
            <a:r>
              <a:t>04  APPLICATION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Inter"/>
              </a:defRPr>
            </a:pPr>
            <a:r>
              <a:t>Case Study — Clinical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Inter"/>
              </a:defRPr>
            </a:pPr>
            <a:r>
              <a:t>Pre-defined clinical cases · full AI analysis · dose-response curve · clinical recommendations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34440" y="1417320"/>
            <a:ext cx="9692640" cy="5212080"/>
          </a:xfrm>
          <a:prstGeom prst="round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ase_study_report_17772601443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371600"/>
            <a:ext cx="960120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5FFF"/>
                </a:solidFill>
                <a:latin typeface="Inter"/>
              </a:defRPr>
            </a:pPr>
            <a:r>
              <a:t>05 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Inter"/>
              </a:defRPr>
            </a:pPr>
            <a:r>
              <a:t>Key Findings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2057400"/>
            <a:ext cx="457200" cy="4572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305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901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Inter"/>
              </a:defRPr>
            </a:pPr>
            <a:r>
              <a:t>Sets/week is the strongest predictor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240280"/>
            <a:ext cx="9418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Inter"/>
              </a:defRPr>
            </a:pPr>
            <a:r>
              <a:t>SHAP importance = 0.42 — dominates all other features.</a:t>
            </a:r>
            <a:br/>
            <a:r>
              <a:t>Pearson r = +0.44 between sets/week and Hedges' 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71800"/>
            <a:ext cx="1069848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3200400"/>
            <a:ext cx="457200" cy="45720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2735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044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Inter"/>
              </a:defRPr>
            </a:pPr>
            <a:r>
              <a:t>Optimal range: 20–28 sets/week for most profiles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383280"/>
            <a:ext cx="9418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Inter"/>
              </a:defRPr>
            </a:pPr>
            <a:r>
              <a:t>EBM dose-response curve peaks in this range for trained individuals.</a:t>
            </a:r>
            <a:br/>
            <a:r>
              <a:t>Results consistent with meta-analytic evidence (Schoenfeld et al.).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14800"/>
            <a:ext cx="1069848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5840" y="4343400"/>
            <a:ext cx="457200" cy="4572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4165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187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Inter"/>
              </a:defRPr>
            </a:pPr>
            <a:r>
              <a:t>Diminishing returns above P90 (~32 sets/week)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526280"/>
            <a:ext cx="9418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Inter"/>
              </a:defRPr>
            </a:pPr>
            <a:r>
              <a:t>Only 5 observations with sets ≥ 40 in dataset.</a:t>
            </a:r>
            <a:br/>
            <a:r>
              <a:t>P90 cap prevents unreliable extrapolation beyond data support.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257800"/>
            <a:ext cx="1069848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5840" y="5486400"/>
            <a:ext cx="457200" cy="4572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5595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5330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Inter"/>
              </a:defRPr>
            </a:pPr>
            <a:r>
              <a:t>Training status is the 2nd most important factor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5669280"/>
            <a:ext cx="9418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Inter"/>
              </a:defRPr>
            </a:pPr>
            <a:r>
              <a:t>SHAP importance = 0.28. Untrained subjects show higher effect sizes</a:t>
            </a:r>
            <a:br/>
            <a:r>
              <a:t>at lower volumes — consistent with "newbie gains" phenomenon.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5FFF"/>
                </a:solidFill>
                <a:latin typeface="Inter"/>
              </a:defRPr>
            </a:pPr>
            <a:r>
              <a:t>05 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Inter"/>
              </a:defRPr>
            </a:pPr>
            <a:r>
              <a:t>Model Validation — Test Cases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10972800" cy="502920"/>
          </a:xfrm>
          <a:prstGeom prst="round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Inter"/>
              </a:defRPr>
            </a:pPr>
            <a:r>
              <a:t>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87451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Inter"/>
              </a:defRPr>
            </a:pPr>
            <a:r>
              <a:t>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874519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Inter"/>
              </a:defRPr>
            </a:pPr>
            <a:r>
              <a:t>Expected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874519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Inter"/>
              </a:defRPr>
            </a:pPr>
            <a:r>
              <a:t>Predicted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874519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Inter"/>
              </a:defRPr>
            </a:pPr>
            <a:r>
              <a:t>Match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23160"/>
            <a:ext cx="1097280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96312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  <a:latin typeface="Inter"/>
              </a:defRPr>
            </a:pPr>
            <a:r>
              <a:t>#1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49631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F172A"/>
                </a:solidFill>
                <a:latin typeface="Inter"/>
              </a:defRPr>
            </a:pPr>
            <a:r>
              <a:t>Trained male, moderate volume, upper body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249631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F172A"/>
                </a:solidFill>
                <a:latin typeface="Inter"/>
              </a:defRPr>
            </a:pPr>
            <a:r>
              <a:t>Medium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49631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F172A"/>
                </a:solidFill>
                <a:latin typeface="Inter"/>
              </a:defRPr>
            </a:pPr>
            <a:r>
              <a:t>Medium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496312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6A34A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063240"/>
            <a:ext cx="1097280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136392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  <a:latin typeface="Inter"/>
              </a:defRPr>
            </a:pPr>
            <a:r>
              <a:t>#2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13639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F172A"/>
                </a:solidFill>
                <a:latin typeface="Inter"/>
              </a:defRPr>
            </a:pPr>
            <a:r>
              <a:t>High frequency, high volume trained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313639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F172A"/>
                </a:solidFill>
                <a:latin typeface="Inter"/>
              </a:defRPr>
            </a:pPr>
            <a: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13639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F172A"/>
                </a:solidFill>
                <a:latin typeface="Inter"/>
              </a:defRPr>
            </a:pPr>
            <a: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136392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6A34A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703320"/>
            <a:ext cx="1097280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776472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  <a:latin typeface="Inter"/>
              </a:defRPr>
            </a:pPr>
            <a:r>
              <a:t>#3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377647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F172A"/>
                </a:solidFill>
                <a:latin typeface="Inter"/>
              </a:defRPr>
            </a:pPr>
            <a:r>
              <a:t>Untrained, very low volume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377647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F172A"/>
                </a:solidFill>
                <a:latin typeface="Inter"/>
              </a:defRPr>
            </a:pPr>
            <a:r>
              <a:t>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377647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F172A"/>
                </a:solidFill>
                <a:latin typeface="Inter"/>
              </a:defRPr>
            </a:pPr>
            <a:r>
              <a:t>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776472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6A34A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343400"/>
            <a:ext cx="1097280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416552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  <a:latin typeface="Inter"/>
              </a:defRPr>
            </a:pPr>
            <a:r>
              <a:t>#4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441655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F172A"/>
                </a:solidFill>
                <a:latin typeface="Inter"/>
              </a:defRPr>
            </a:pPr>
            <a:r>
              <a:t>Long program, untrained, moderate volume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0" y="441655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F172A"/>
                </a:solidFill>
                <a:latin typeface="Inter"/>
              </a:defRPr>
            </a:pPr>
            <a:r>
              <a:t>Medium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441655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F172A"/>
                </a:solidFill>
                <a:latin typeface="Inter"/>
              </a:defRPr>
            </a:pPr>
            <a:r>
              <a:t>Medium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416552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6A34A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983480"/>
            <a:ext cx="1097280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056632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  <a:latin typeface="Inter"/>
              </a:defRPr>
            </a:pPr>
            <a:r>
              <a:t>#5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505663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F172A"/>
                </a:solidFill>
                <a:latin typeface="Inter"/>
              </a:defRPr>
            </a:pPr>
            <a:r>
              <a:t>Very high volume — potential overtraining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505663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F172A"/>
                </a:solidFill>
                <a:latin typeface="Inter"/>
              </a:defRPr>
            </a:pPr>
            <a:r>
              <a:t>High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505663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F172A"/>
                </a:solidFill>
                <a:latin typeface="Inter"/>
              </a:defRPr>
            </a:pPr>
            <a:r>
              <a:t>High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5056632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6A34A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5486400"/>
            <a:ext cx="10698480" cy="73152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B5FFF"/>
                </a:solidFill>
                <a:latin typeface="Inter"/>
              </a:defRPr>
            </a:pPr>
            <a:r>
              <a:t>5/5 test cases correctly classified  ·  95% average confidence  ·  Graceful fallback ensures usability when backend is offline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5FFF"/>
                </a:solidFill>
                <a:latin typeface="Inter"/>
              </a:defRPr>
            </a:pPr>
            <a:r>
              <a:t>06 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Inter"/>
              </a:defRPr>
            </a:pPr>
            <a:r>
              <a:t>Limitations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7706"/>
                </a:solidFill>
                <a:latin typeface="Inter"/>
              </a:defRPr>
            </a:pPr>
            <a:r>
              <a:t>⚠  Dataset Size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402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Inter"/>
              </a:defRPr>
            </a:pPr>
            <a:r>
              <a:t>199 observations from 69 studies — study-level aggregates,</a:t>
            </a:r>
            <a:br/>
            <a:r>
              <a:t>not individual-level data. Limited statistical power for rare subgroups.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10698480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01752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7706"/>
                </a:solidFill>
                <a:latin typeface="Inter"/>
              </a:defRPr>
            </a:pPr>
            <a:r>
              <a:t>⚠  Feature Representation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3375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Inter"/>
              </a:defRPr>
            </a:pPr>
            <a:r>
              <a:t>Sex (sex.male) is a study-level proportion, not individual binary.</a:t>
            </a:r>
            <a:br/>
            <a:r>
              <a:t>Some features (e.g., years.exp) had significant missingness (45%).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10698480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11480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7706"/>
                </a:solidFill>
                <a:latin typeface="Inter"/>
              </a:defRPr>
            </a:pPr>
            <a:r>
              <a:t>⚠  Cross-Sectional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4348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Inter"/>
              </a:defRPr>
            </a:pPr>
            <a:r>
              <a:t>No longitudinal tracking — predictions are for a single time point.</a:t>
            </a:r>
            <a:br/>
            <a:r>
              <a:t>Cannot model progressive overload or adaptation over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120640"/>
            <a:ext cx="10698480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21208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7706"/>
                </a:solidFill>
                <a:latin typeface="Inter"/>
              </a:defRPr>
            </a:pPr>
            <a:r>
              <a:t>⚠  Publication Bias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5321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Inter"/>
              </a:defRPr>
            </a:pPr>
            <a:r>
              <a:t>Dataset comprises published RCTs only.</a:t>
            </a:r>
            <a:br/>
            <a:r>
              <a:t>Studies with negative/null results may be underrepresented.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5FFF"/>
                </a:solidFill>
                <a:latin typeface="Inter"/>
              </a:defRPr>
            </a:pPr>
            <a:r>
              <a:t>06 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Inter"/>
              </a:defRPr>
            </a:pPr>
            <a:r>
              <a:t>Future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3035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F172A"/>
                </a:solidFill>
                <a:latin typeface="Inter"/>
              </a:defRPr>
            </a:pPr>
            <a:r>
              <a:t>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9659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Inter"/>
              </a:defRPr>
            </a:pPr>
            <a:r>
              <a:t>Expand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37744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Inter"/>
              </a:defRPr>
            </a:pPr>
            <a:r>
              <a:t>Incorporate newer studies and individual-level data.</a:t>
            </a:r>
            <a:br/>
            <a:r>
              <a:t>Add muscle-group-specific volume analysis.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828800"/>
            <a:ext cx="53035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965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F172A"/>
                </a:solidFill>
                <a:latin typeface="Inter"/>
              </a:defRPr>
            </a:pPr>
            <a:r>
              <a:t>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9659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Inter"/>
              </a:defRPr>
            </a:pPr>
            <a:r>
              <a:t>Mobile &amp; Accessibility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37744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Inter"/>
              </a:defRPr>
            </a:pPr>
            <a:r>
              <a:t>Responsive mobile layout + dark mode.</a:t>
            </a:r>
            <a:br/>
            <a:r>
              <a:t>Enhanced WCAG 2.1 compliance.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40480"/>
            <a:ext cx="53035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977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F172A"/>
                </a:solidFill>
                <a:latin typeface="Inter"/>
              </a:defRPr>
            </a:pPr>
            <a:r>
              <a:t>☁️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9776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Inter"/>
              </a:defRPr>
            </a:pPr>
            <a:r>
              <a:t>Cloud Deployment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38912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Inter"/>
              </a:defRPr>
            </a:pPr>
            <a:r>
              <a:t>Deploy to Vercel (frontend) + Railway (backend).</a:t>
            </a:r>
            <a:br/>
            <a:r>
              <a:t>Public access without local installation.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3840480"/>
            <a:ext cx="53035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977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F172A"/>
                </a:solidFill>
                <a:latin typeface="Inter"/>
              </a:defRPr>
            </a:pPr>
            <a:r>
              <a:t>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9776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Inter"/>
              </a:defRPr>
            </a:pPr>
            <a:r>
              <a:t>Advanced 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438912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Inter"/>
              </a:defRPr>
            </a:pPr>
            <a:r>
              <a:t>Experiment with Transformer-based architectures.</a:t>
            </a:r>
            <a:br/>
            <a:r>
              <a:t>Add longitudinal prediction capability.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12191695" cy="73152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F172A"/>
                </a:solidFill>
                <a:latin typeface="Inter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475569"/>
                </a:solidFill>
                <a:latin typeface="Inter"/>
              </a:defRPr>
            </a:pPr>
            <a:r>
              <a:t>Questions &amp; Discussion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108960"/>
            <a:ext cx="2103120" cy="381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0" y="3657600"/>
            <a:ext cx="5760720" cy="22860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3749039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Inter"/>
              </a:defRPr>
            </a:pPr>
            <a:r>
              <a:t>TrainHyp AI — Training Volume Optimizer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4133087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Inter"/>
              </a:defRPr>
            </a:pPr>
            <a:r>
              <a:t>Group 7  ·  STAT3013.Q21.CTTT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4517135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F172A"/>
                </a:solidFill>
                <a:latin typeface="Inter"/>
              </a:defRPr>
            </a:pPr>
            <a:r>
              <a:t>Võ Tấn Vũ  ·  Nguyễn Đình Sang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4791455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F172A"/>
                </a:solidFill>
                <a:latin typeface="Inter"/>
              </a:defRPr>
            </a:pPr>
            <a:r>
              <a:t>Nguyễn Phan Hoàng Quân  ·  Phạm Như Quân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5175503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Inter"/>
              </a:defRPr>
            </a:pPr>
            <a:r>
              <a:t>Dr. Trần Văn Hải Triều  &amp;  TA. Nguyễn Minh Nhựt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Inter"/>
              </a:defRPr>
            </a:pPr>
            <a:r>
              <a:t>STAT3013 — Statistical Analysis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